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woclaw  —  面向中国用户的 AI Claw 产品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C8FF"/>
                </a:solidFill>
              </a:rPr>
              <a:t>OpenClaw 全部能力  +  安全合规增强  +  中国本地化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840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07890"/>
                </a:solidFill>
              </a:rPr>
              <a:t>www.66claw.com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703320" cy="320040"/>
          </a:xfrm>
          <a:prstGeom prst="rect">
            <a:avLst/>
          </a:prstGeom>
          <a:solidFill>
            <a:srgbClr val="0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52728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FF"/>
                </a:solidFill>
              </a:rPr>
              <a:t>  OpenClaw 全能力继承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64208"/>
            <a:ext cx="3703320" cy="420624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664208"/>
            <a:ext cx="36576" cy="42062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70078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8FF"/>
                </a:solidFill>
              </a:rPr>
              <a:t>Docker 沙箱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892808"/>
            <a:ext cx="3520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0B8"/>
                </a:solidFill>
              </a:rPr>
              <a:t>轻量/浏览器/完整开发 三种隔离镜像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139696"/>
            <a:ext cx="3703320" cy="420624"/>
          </a:xfrm>
          <a:prstGeom prst="rect">
            <a:avLst/>
          </a:prstGeom>
          <a:solidFill>
            <a:srgbClr val="0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139696"/>
            <a:ext cx="36576" cy="42062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7627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8FF"/>
                </a:solidFill>
              </a:rPr>
              <a:t>Seccomp 内核隔离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368296"/>
            <a:ext cx="3520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0B8"/>
                </a:solidFill>
              </a:rPr>
              <a:t>230 白名单调用，38 危险调用封禁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615184"/>
            <a:ext cx="3703320" cy="420624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615184"/>
            <a:ext cx="36576" cy="42062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6517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8FF"/>
                </a:solidFill>
              </a:rPr>
              <a:t>ClawHub 生态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2843784"/>
            <a:ext cx="3520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0B8"/>
                </a:solidFill>
              </a:rPr>
              <a:t>13000+ Skills 插件可直接使用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090672"/>
            <a:ext cx="3703320" cy="420624"/>
          </a:xfrm>
          <a:prstGeom prst="rect">
            <a:avLst/>
          </a:prstGeom>
          <a:solidFill>
            <a:srgbClr val="0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090672"/>
            <a:ext cx="36576" cy="42062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1272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8FF"/>
                </a:solidFill>
              </a:rPr>
              <a:t>多模型支持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3319272"/>
            <a:ext cx="3520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0B8"/>
                </a:solidFill>
              </a:rPr>
              <a:t>OpenAI/Claude/Gemini 等主流模型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566160"/>
            <a:ext cx="3703320" cy="420624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566160"/>
            <a:ext cx="36576" cy="42062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60273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8FF"/>
                </a:solidFill>
              </a:rPr>
              <a:t>60+ 海外 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3794760"/>
            <a:ext cx="3520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0B8"/>
                </a:solidFill>
              </a:rPr>
              <a:t>Slack/Discord/Telegram/Teams 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041648"/>
            <a:ext cx="3703320" cy="420624"/>
          </a:xfrm>
          <a:prstGeom prst="rect">
            <a:avLst/>
          </a:prstGeom>
          <a:solidFill>
            <a:srgbClr val="0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4041648"/>
            <a:ext cx="36576" cy="42062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407822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8FF"/>
                </a:solidFill>
              </a:rPr>
              <a:t>插件架构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4270248"/>
            <a:ext cx="3520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0B8"/>
                </a:solidFill>
              </a:rPr>
              <a:t>Extensions API，功能可自行扩展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59935" y="1234440"/>
            <a:ext cx="3703320" cy="320040"/>
          </a:xfrm>
          <a:prstGeom prst="rect">
            <a:avLst/>
          </a:prstGeom>
          <a:solidFill>
            <a:srgbClr val="0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59935" y="1252728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676"/>
                </a:solidFill>
              </a:rPr>
              <a:t>  安全合规增强（我们新增）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59935" y="1664208"/>
            <a:ext cx="3703320" cy="420624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59935" y="1664208"/>
            <a:ext cx="36576" cy="42062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69663" y="170078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676"/>
                </a:solidFill>
              </a:rPr>
              <a:t>安全三档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9663" y="1892808"/>
            <a:ext cx="3520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0B8"/>
                </a:solidFill>
              </a:rPr>
              <a:t>full/balanced/safe，默认 balanced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9935" y="2139696"/>
            <a:ext cx="3703320" cy="420624"/>
          </a:xfrm>
          <a:prstGeom prst="rect">
            <a:avLst/>
          </a:prstGeom>
          <a:solidFill>
            <a:srgbClr val="0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59935" y="2139696"/>
            <a:ext cx="36576" cy="42062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69663" y="217627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676"/>
                </a:solidFill>
              </a:rPr>
              <a:t>敏感路径拦截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9663" y="2368296"/>
            <a:ext cx="3520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0B8"/>
                </a:solidFill>
              </a:rPr>
              <a:t>.ssh/.aws/.kube/.env 20+ 路径自动阻断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59935" y="2615184"/>
            <a:ext cx="3703320" cy="420624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059935" y="2615184"/>
            <a:ext cx="36576" cy="42062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69663" y="26517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676"/>
                </a:solidFill>
              </a:rPr>
              <a:t>Skills 安全审计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69663" y="2843784"/>
            <a:ext cx="3520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0B8"/>
                </a:solidFill>
              </a:rPr>
              <a:t>安装时扫描危险命令/数据外泄/密钥硬编码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59935" y="3090672"/>
            <a:ext cx="3703320" cy="420624"/>
          </a:xfrm>
          <a:prstGeom prst="rect">
            <a:avLst/>
          </a:prstGeom>
          <a:solidFill>
            <a:srgbClr val="0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059935" y="3090672"/>
            <a:ext cx="36576" cy="42062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69663" y="31272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676"/>
                </a:solidFill>
              </a:rPr>
              <a:t>审计日志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69663" y="3319272"/>
            <a:ext cx="3520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0B8"/>
                </a:solidFill>
              </a:rPr>
              <a:t>默认开启，本地 JSONL，零云端回调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59935" y="3566160"/>
            <a:ext cx="3703320" cy="420624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059935" y="3566160"/>
            <a:ext cx="36576" cy="42062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69663" y="360273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676"/>
                </a:solidFill>
              </a:rPr>
              <a:t>随机端口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69663" y="3794760"/>
            <a:ext cx="3520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0B8"/>
                </a:solidFill>
              </a:rPr>
              <a:t>10000-40000，避免默认端口被扫描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59935" y="4041648"/>
            <a:ext cx="3703320" cy="420624"/>
          </a:xfrm>
          <a:prstGeom prst="rect">
            <a:avLst/>
          </a:prstGeom>
          <a:solidFill>
            <a:srgbClr val="0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059935" y="4041648"/>
            <a:ext cx="36576" cy="42062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69663" y="407822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676"/>
                </a:solidFill>
              </a:rPr>
              <a:t>合规自查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69663" y="4270248"/>
            <a:ext cx="3520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0B8"/>
                </a:solidFill>
              </a:rPr>
              <a:t>cn-compliance 一键出工信部对照报告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45551" y="1234440"/>
            <a:ext cx="3703320" cy="320040"/>
          </a:xfrm>
          <a:prstGeom prst="rect">
            <a:avLst/>
          </a:prstGeom>
          <a:solidFill>
            <a:srgbClr val="30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45551" y="1252728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</a:rPr>
              <a:t>  中国本地化（我们新增）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45551" y="1664208"/>
            <a:ext cx="3703320" cy="420624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845551" y="1664208"/>
            <a:ext cx="36576" cy="42062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55279" y="170078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</a:rPr>
              <a:t>完整中文 UI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55279" y="1892808"/>
            <a:ext cx="3520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0B8"/>
                </a:solidFill>
              </a:rPr>
              <a:t>界面/提示词/命令别名/配置向导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45551" y="2139696"/>
            <a:ext cx="3703320" cy="420624"/>
          </a:xfrm>
          <a:prstGeom prst="rect">
            <a:avLst/>
          </a:prstGeom>
          <a:solidFill>
            <a:srgbClr val="0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845551" y="2139696"/>
            <a:ext cx="36576" cy="42062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55279" y="217627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</a:rPr>
              <a:t>国产模型 15+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2368296"/>
            <a:ext cx="3520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0B8"/>
                </a:solidFill>
              </a:rPr>
              <a:t>Kimi/通义/豆包/硅基/火山引擎/Ollama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45551" y="2615184"/>
            <a:ext cx="3703320" cy="420624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845551" y="2615184"/>
            <a:ext cx="36576" cy="42062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55279" y="26517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</a:rPr>
              <a:t>国内 IM 9 个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55279" y="2843784"/>
            <a:ext cx="3520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0B8"/>
                </a:solidFill>
              </a:rPr>
              <a:t>飞书/钉钉/企微/微信/QQ 等全覆盖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45551" y="3090672"/>
            <a:ext cx="3703320" cy="420624"/>
          </a:xfrm>
          <a:prstGeom prst="rect">
            <a:avLst/>
          </a:prstGeom>
          <a:solidFill>
            <a:srgbClr val="0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845551" y="3090672"/>
            <a:ext cx="36576" cy="42062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55279" y="31272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</a:rPr>
              <a:t>License 授权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79" y="3319272"/>
            <a:ext cx="3520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0B8"/>
                </a:solidFill>
              </a:rPr>
              <a:t>RSA 双密钥 + 设备绑定 + 30 天离线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845551" y="3566160"/>
            <a:ext cx="3703320" cy="420624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845551" y="3566160"/>
            <a:ext cx="36576" cy="42062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955279" y="360273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</a:rPr>
              <a:t>独立更新通道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55279" y="3794760"/>
            <a:ext cx="3520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0B8"/>
                </a:solidFill>
              </a:rPr>
              <a:t>国内可达，跟随上游安全补丁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45551" y="4041648"/>
            <a:ext cx="3703320" cy="420624"/>
          </a:xfrm>
          <a:prstGeom prst="rect">
            <a:avLst/>
          </a:prstGeom>
          <a:solidFill>
            <a:srgbClr val="0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845551" y="4041648"/>
            <a:ext cx="36576" cy="42062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955279" y="407822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</a:rPr>
              <a:t>数据不出境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55279" y="4270248"/>
            <a:ext cx="35204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0B8"/>
                </a:solidFill>
              </a:rPr>
              <a:t>审计日志只存本地，零云端上传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4645152"/>
            <a:ext cx="12188952" cy="411480"/>
          </a:xfrm>
          <a:prstGeom prst="rect">
            <a:avLst/>
          </a:prstGeom>
          <a:solidFill>
            <a:srgbClr val="00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74320" y="47091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E676"/>
                </a:solidFill>
              </a:rPr>
              <a:t>工信部&lt;&lt;六要六不要&gt;&gt; 12 条全部覆盖    |    CNCERT 四大风险全部覆盖    |    openclaw cn-compliance 一键自查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5212080"/>
            <a:ext cx="1695558" cy="5943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0" y="5257800"/>
            <a:ext cx="16955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8FF"/>
                </a:solidFill>
              </a:rPr>
              <a:t>15+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0" y="5559552"/>
            <a:ext cx="169555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0B8"/>
                </a:solidFill>
              </a:rPr>
              <a:t>国产模型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41278" y="5212080"/>
            <a:ext cx="1695558" cy="594360"/>
          </a:xfrm>
          <a:prstGeom prst="rect">
            <a:avLst/>
          </a:prstGeom>
          <a:solidFill>
            <a:srgbClr val="0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741278" y="5257800"/>
            <a:ext cx="16955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8FF"/>
                </a:solidFill>
              </a:rPr>
              <a:t>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741278" y="5559552"/>
            <a:ext cx="169555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0B8"/>
                </a:solidFill>
              </a:rPr>
              <a:t>国内 IM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482557" y="5212080"/>
            <a:ext cx="1695558" cy="5943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482557" y="5257800"/>
            <a:ext cx="16955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8FF"/>
                </a:solidFill>
              </a:rPr>
              <a:t>60+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82557" y="5559552"/>
            <a:ext cx="169555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0B8"/>
                </a:solidFill>
              </a:rPr>
              <a:t>海外 IM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223836" y="5212080"/>
            <a:ext cx="1695558" cy="594360"/>
          </a:xfrm>
          <a:prstGeom prst="rect">
            <a:avLst/>
          </a:prstGeom>
          <a:solidFill>
            <a:srgbClr val="0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223836" y="5257800"/>
            <a:ext cx="16955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8FF"/>
                </a:solidFill>
              </a:rPr>
              <a:t>13000+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223836" y="5559552"/>
            <a:ext cx="169555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0B8"/>
                </a:solidFill>
              </a:rPr>
              <a:t>Skills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965115" y="5212080"/>
            <a:ext cx="1695558" cy="5943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965115" y="5257800"/>
            <a:ext cx="16955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</a:rP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965115" y="5559552"/>
            <a:ext cx="169555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0B8"/>
                </a:solidFill>
              </a:rPr>
              <a:t>安全档位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706394" y="5212080"/>
            <a:ext cx="1695558" cy="594360"/>
          </a:xfrm>
          <a:prstGeom prst="rect">
            <a:avLst/>
          </a:prstGeom>
          <a:solidFill>
            <a:srgbClr val="0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706394" y="5257800"/>
            <a:ext cx="16955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</a:rPr>
              <a:t>12/12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706394" y="5559552"/>
            <a:ext cx="169555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0B8"/>
                </a:solidFill>
              </a:rPr>
              <a:t>工信部覆盖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447673" y="5212080"/>
            <a:ext cx="1695558" cy="5943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447673" y="5257800"/>
            <a:ext cx="16955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</a:rPr>
              <a:t>4/4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447673" y="5559552"/>
            <a:ext cx="169555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0B8"/>
                </a:solidFill>
              </a:rPr>
              <a:t>CNCERT覆盖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74320" y="61264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woclaw = OpenClaw 全部能力 + 安全合规增强 + 中国本地化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74320" y="644652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A0B8"/>
                </a:solidFill>
              </a:rPr>
              <a:t>让 OpenClaw 在中国企业场景开箱可用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woclaw 的优势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A0B8"/>
                </a:solidFill>
              </a:rPr>
              <a:t>大厂有的安全我们都有，大厂没有的开放性我们也有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5669280" cy="347472"/>
          </a:xfrm>
          <a:prstGeom prst="rect">
            <a:avLst/>
          </a:prstGeom>
          <a:solidFill>
            <a:srgbClr val="0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97840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8FF"/>
                </a:solidFill>
              </a:rPr>
              <a:t>  vs OpenClaw：我们加了什么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676"/>
                </a:solidFill>
              </a:rPr>
              <a:t>安全合规增强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64208"/>
            <a:ext cx="5669280" cy="3657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664208"/>
            <a:ext cx="36576" cy="3657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71907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676"/>
                </a:solidFill>
              </a:rPr>
              <a:t>安全三档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71907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A0B8"/>
                </a:solidFill>
              </a:rPr>
              <a:t>full/balanced/safe 默认 balanced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48256"/>
            <a:ext cx="5669280" cy="365760"/>
          </a:xfrm>
          <a:prstGeom prst="rect">
            <a:avLst/>
          </a:prstGeom>
          <a:solidFill>
            <a:srgbClr val="0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48256"/>
            <a:ext cx="36576" cy="3657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0312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676"/>
                </a:solidFill>
              </a:rPr>
              <a:t>敏感路径拦截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10312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A0B8"/>
                </a:solidFill>
              </a:rPr>
              <a:t>.ssh/.aws/.kube/.env 自动阻断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32304"/>
            <a:ext cx="5669280" cy="3657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432304"/>
            <a:ext cx="36576" cy="3657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48716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676"/>
                </a:solidFill>
              </a:rPr>
              <a:t>Skills 安全审计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248716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A0B8"/>
                </a:solidFill>
              </a:rPr>
              <a:t>安装时扫描危险命令/数据外泄模式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816352"/>
            <a:ext cx="5669280" cy="365760"/>
          </a:xfrm>
          <a:prstGeom prst="rect">
            <a:avLst/>
          </a:prstGeom>
          <a:solidFill>
            <a:srgbClr val="0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816352"/>
            <a:ext cx="36576" cy="3657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287121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676"/>
                </a:solidFill>
              </a:rPr>
              <a:t>审计日志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287121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A0B8"/>
                </a:solidFill>
              </a:rPr>
              <a:t>默认开启，本地 JSONL，零云端回调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200400"/>
            <a:ext cx="5669280" cy="3657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200400"/>
            <a:ext cx="36576" cy="3657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255264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676"/>
                </a:solidFill>
              </a:rPr>
              <a:t>合规自查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325526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A0B8"/>
                </a:solidFill>
              </a:rPr>
              <a:t>cn-compliance 一键出合规报告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7216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</a:rPr>
              <a:t>中国本地化（OpenClaw 完全没有）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977640"/>
            <a:ext cx="5669280" cy="3657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977640"/>
            <a:ext cx="36576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4032504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</a:rPr>
              <a:t>中文 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403250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A0B8"/>
                </a:solidFill>
              </a:rPr>
              <a:t>界面 + 提示词 + 命令别名 + 向导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361688"/>
            <a:ext cx="5669280" cy="365760"/>
          </a:xfrm>
          <a:prstGeom prst="rect">
            <a:avLst/>
          </a:prstGeom>
          <a:solidFill>
            <a:srgbClr val="0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4361688"/>
            <a:ext cx="36576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441655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</a:rPr>
              <a:t>国产模型 15+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441655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A0B8"/>
                </a:solidFill>
              </a:rPr>
              <a:t>Kimi/通义/豆包/硅基/火山引擎等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745736"/>
            <a:ext cx="5669280" cy="3657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4745736"/>
            <a:ext cx="36576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480060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</a:rPr>
              <a:t>国内 IM 9 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5920" y="480060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A0B8"/>
                </a:solidFill>
              </a:rPr>
              <a:t>飞书/钉钉/企微/微信/QQ 全覆盖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129784"/>
            <a:ext cx="5669280" cy="365760"/>
          </a:xfrm>
          <a:prstGeom prst="rect">
            <a:avLst/>
          </a:prstGeom>
          <a:solidFill>
            <a:srgbClr val="0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5129784"/>
            <a:ext cx="36576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518464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</a:rPr>
              <a:t>海外 IM 60+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518464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A0B8"/>
                </a:solidFill>
              </a:rPr>
              <a:t>继承 OpenClaw 全部海外渠道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513832"/>
            <a:ext cx="5669280" cy="3657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5513832"/>
            <a:ext cx="36576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556869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</a:rPr>
              <a:t>企业能力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45920" y="556869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A0B8"/>
                </a:solidFill>
              </a:rPr>
              <a:t>License + 离线 30 天 + 独立更新 + 数据不出境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960120"/>
            <a:ext cx="5669280" cy="347472"/>
          </a:xfrm>
          <a:prstGeom prst="rect">
            <a:avLst/>
          </a:prstGeom>
          <a:solidFill>
            <a:srgbClr val="30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97840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  vs 大厂（字节/腾讯/阿里）：开放性优势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1444752"/>
            <a:ext cx="5669280" cy="7315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17920" y="1444752"/>
            <a:ext cx="45720" cy="7315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149961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模型被垄断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9520" y="149961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7890"/>
                </a:solidFill>
              </a:rPr>
              <a:t>字节绑豆包/腾讯绑混元/阿里绑通义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9520" y="181051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15+ 模型自由切换，零绑定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2249424"/>
            <a:ext cx="5669280" cy="731520"/>
          </a:xfrm>
          <a:prstGeom prst="rect">
            <a:avLst/>
          </a:prstGeom>
          <a:solidFill>
            <a:srgbClr val="0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17920" y="2249424"/>
            <a:ext cx="45720" cy="7315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5080" y="230428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IM 被割裂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89520" y="230428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7890"/>
                </a:solidFill>
              </a:rPr>
              <a:t>字节只飞书/腾讯只微信QQ/阿里只钉钉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89520" y="261518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国内 9 个 + 海外 60+ 全覆盖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3054096"/>
            <a:ext cx="5669280" cy="7315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17920" y="3054096"/>
            <a:ext cx="45720" cy="7315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5080" y="310896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部署被控制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89520" y="31089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7890"/>
                </a:solidFill>
              </a:rPr>
              <a:t>数据在大厂机房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89520" y="341985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完整本地部署，数据在你服务器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7920" y="3858768"/>
            <a:ext cx="5669280" cy="731520"/>
          </a:xfrm>
          <a:prstGeom prst="rect">
            <a:avLst/>
          </a:prstGeom>
          <a:solidFill>
            <a:srgbClr val="0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17920" y="3858768"/>
            <a:ext cx="45720" cy="7315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5080" y="39136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策略固化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89520" y="391363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7890"/>
                </a:solidFill>
              </a:rPr>
              <a:t>安全策略不可调，一刀切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89520" y="422452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三档可配，按场景灵活切换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17920" y="4663440"/>
            <a:ext cx="5669280" cy="7315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17920" y="4663440"/>
            <a:ext cx="45720" cy="7315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55080" y="4718303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扩展受限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89520" y="4718303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7890"/>
                </a:solidFill>
              </a:rPr>
              <a:t>封闭体系，功能看厂商排期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89520" y="502920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OpenClaw 插件架构，13000+ Skills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17920" y="5468112"/>
            <a:ext cx="5669280" cy="731520"/>
          </a:xfrm>
          <a:prstGeom prst="rect">
            <a:avLst/>
          </a:prstGeom>
          <a:solidFill>
            <a:srgbClr val="0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17920" y="5468112"/>
            <a:ext cx="45720" cy="7315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55080" y="552297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响应慢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89520" y="552297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7890"/>
                </a:solidFill>
              </a:rPr>
              <a:t>月-季度内部审批流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89520" y="583387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周级响应，直接沟通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4320" y="644652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FF"/>
                </a:solidFill>
              </a:rPr>
              <a:t>vs OpenClaw：安全分级 + 审计日志 + Skills 审计 + 合规自查 = 企业用得起来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</a:rPr>
              <a:t>vs 大厂：模型不绑定 + IM 全覆盖 + 数据在你服务器 + 插件可扩展 = 不被锁死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