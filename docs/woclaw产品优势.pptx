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woclaw vs 原生 OpenClaw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8"/>
                </a:solidFill>
              </a:rPr>
              <a:t>基于 OpenClaw 深度定制，我们在上游基础上增加了以下能力</a:t>
            </a:r>
            <a:endParaRPr sz="1300" b="0">
              <a:solidFill>
                <a:srgbClr val="88A0B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1155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  工信部合规增强（OpenClaw 没有）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09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安全三档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1883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full / balanced / safe，默认 balanced，危险操作需确认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304288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04288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59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敏感路径拦截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.ssh .aws .kube .env 等密钥路径自动阻断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3054096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54096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审计日志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" y="3383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agent 运行后写本地 JSONL，不上传，满足工信部④要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3803904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03904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58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随机端口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" y="4133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安装时自动分配随机端口，避免默认 18789 被扫描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4553712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53712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60857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Skills 警告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8912" y="4882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安装前展示来源风险，用户确认后才继续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303520"/>
            <a:ext cx="54406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303520"/>
            <a:ext cx="54864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5358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合规自查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8912" y="5632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openclaw cn-compliance  一键输出六要六不要对照报告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35040" y="1097280"/>
            <a:ext cx="5943600" cy="347472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111556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  中国本地化（OpenClaw 完全没有）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35040" y="1554480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55448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1609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全中文 UI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99632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界面 / 提示词优化 / 命令别名 / 配置向导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35040" y="2304288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2304288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2359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国产模型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199632" y="2633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Kimi / 通义 / 豆包 / 硅基 / 火山引擎 / Ollama 等 15+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35040" y="3054096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3054096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企业 IM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99632" y="33832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飞书 / 钉钉 / 企业微信 / 微信 / QQ 等 70+ 渠道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35040" y="3803904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3803904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2" y="3858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企业授权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99632" y="41330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License 体系 + 30天离线缓存 + 渠道商分发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035040" y="4553712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455371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460857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OEM 白标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99632" y="48828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30 分钟完成 Logo / 品牌 / 主题全套替换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35040" y="5303520"/>
            <a:ext cx="589788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530352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5358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独立更新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99632" y="56327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国内可达的独立更新通道，不依赖 GitHub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74320" y="6190488"/>
            <a:ext cx="11704320" cy="411480"/>
          </a:xfrm>
          <a:prstGeom prst="rect">
            <a:avLst/>
          </a:prstGeom>
          <a:solidFill>
            <a:srgbClr val="18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2362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A0B8"/>
                </a:solidFill>
              </a:rPr>
              <a:t>注：底层引擎基于 OpenClaw，上游安全漏洞（CVE）我们同样存在，建议保持最新版本跟进上游补丁</a:t>
            </a:r>
            <a:endParaRPr sz="1000" b="0">
              <a:solidFill>
                <a:srgbClr val="88A0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woclaw vs 国内大厂（ArkClaw / QClaw / 悟空）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A0B8"/>
                </a:solidFill>
              </a:rPr>
              <a:t>大厂在底层沙箱、安全认证上经验更深。我们的差异化在这里：</a:t>
            </a:r>
            <a:endParaRPr sz="1300" b="0">
              <a:solidFill>
                <a:srgbClr val="88A0B8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6032" y="1097280"/>
            <a:ext cx="2286000" cy="411480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124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100" b="1">
              <a:solidFill>
                <a:srgbClr val="00C8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06040" y="1097280"/>
            <a:ext cx="1920240" cy="411480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124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ArkClaw
字节</a:t>
            </a:r>
            <a:endParaRPr sz="1100" b="1">
              <a:solidFill>
                <a:srgbClr val="00C8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124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QClaw
腾讯</a:t>
            </a:r>
            <a:endParaRPr sz="1100" b="1">
              <a:solidFill>
                <a:srgbClr val="00C8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0840" y="1097280"/>
            <a:ext cx="1920240" cy="411480"/>
          </a:xfrm>
          <a:prstGeom prst="rect">
            <a:avLst/>
          </a:prstGeom>
          <a:solidFill>
            <a:srgbClr val="0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124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悟空
阿里</a:t>
            </a:r>
            <a:endParaRPr sz="1100" b="1">
              <a:solidFill>
                <a:srgbClr val="00C8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78240" y="1097280"/>
            <a:ext cx="3200400" cy="411480"/>
          </a:xfrm>
          <a:prstGeom prst="rect">
            <a:avLst/>
          </a:prstGeom>
          <a:solidFill>
            <a:srgbClr val="00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1247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676"/>
                </a:solidFill>
              </a:rPr>
              <a:t>woclaw</a:t>
            </a:r>
            <a:endParaRPr sz="1100" b="1">
              <a:solidFill>
                <a:srgbClr val="00E67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6032" y="1536192"/>
            <a:ext cx="228600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1627632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模型绑定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06040" y="1536192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0904" y="1627632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豆包优先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63440" y="1536192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3" y="1627632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混元优先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20840" y="1536192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3" y="1627632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通义优先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1536192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3104" y="1627632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15+ 自由切换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6032" y="2057400"/>
            <a:ext cx="228600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2148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IM 渠道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606040" y="2057400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0904" y="2148840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飞书 ~8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663440" y="2057400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3" y="2148840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微信QQ ~10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20840" y="2057400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3" y="2148840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钉钉 ~5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778240" y="2057400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2148840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70+ 全覆盖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6032" y="2578608"/>
            <a:ext cx="228600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267004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私有部署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606040" y="2578608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0904" y="267004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主推SaaS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63440" y="2578608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8303" y="267004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企业版可选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720840" y="2578608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75703" y="267004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VPC区域锁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778240" y="2578608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3104" y="2670048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完整本地离线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56032" y="3099815"/>
            <a:ext cx="228600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3191256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数据不出境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606040" y="3099815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0904" y="3191256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 云端回调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663440" y="3099815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3" y="3191256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~ 部分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720840" y="3099815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75703" y="3191256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~ VPC锁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778240" y="3099815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33104" y="3191256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零外传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56032" y="3621024"/>
            <a:ext cx="228600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" y="3712463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安全策略可调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606040" y="3621024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60904" y="3712463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 固化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663440" y="3621024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18303" y="3712463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 黑盒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20840" y="3621024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75703" y="3712463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 固化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778240" y="3621024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3712463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三档可配置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56032" y="4142231"/>
            <a:ext cx="228600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4233671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OEM白标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606040" y="4142231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60904" y="4233671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663440" y="4142231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18303" y="4233671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720840" y="4142231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75703" y="4233671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778240" y="4142231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33104" y="4233671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30分钟完成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56032" y="4663440"/>
            <a:ext cx="228600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0896" y="4754879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合规自查命令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606040" y="4663440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60904" y="4754879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663440" y="4663440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18303" y="4754879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720840" y="4663440"/>
            <a:ext cx="1920240" cy="484632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75703" y="4754879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X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778240" y="4663440"/>
            <a:ext cx="3200400" cy="484632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33104" y="4754879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cn-compliance</a:t>
            </a:r>
            <a:endParaRPr sz="1000" b="1">
              <a:solidFill>
                <a:srgbClr val="00E676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56032" y="5184648"/>
            <a:ext cx="228600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" y="5276088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信通院认证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606040" y="5184648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60904" y="52760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等保三级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663440" y="5184648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18303" y="52760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首批认证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720840" y="5184648"/>
            <a:ext cx="192024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75703" y="52760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申请中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778240" y="5184648"/>
            <a:ext cx="3200400" cy="484632"/>
          </a:xfrm>
          <a:prstGeom prst="rect">
            <a:avLst/>
          </a:prstGeom>
          <a:solidFill>
            <a:srgbClr val="10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833104" y="5276088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A0B8"/>
                </a:solidFill>
              </a:rPr>
              <a:t>申请中</a:t>
            </a:r>
            <a:endParaRPr sz="1000" b="0">
              <a:solidFill>
                <a:srgbClr val="88A0B8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56032" y="5833872"/>
            <a:ext cx="11722608" cy="457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6032" y="5925312"/>
            <a:ext cx="3749039" cy="74980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56032" y="5925312"/>
            <a:ext cx="54864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" y="5952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不绑模型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93192" y="62179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15+ 模型随时切换  |  字节绑豆包 / 腾讯绑混元 / 阿里绑通义  |  我们：配置改一行，零成本换模型</a:t>
            </a:r>
            <a:endParaRPr sz="900" b="0">
              <a:solidFill>
                <a:srgbClr val="88A0B8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206240" y="5925312"/>
            <a:ext cx="3749039" cy="74980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206240" y="5925312"/>
            <a:ext cx="54864" cy="7498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43400" y="5952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不绑 IM</a:t>
            </a:r>
            <a:endParaRPr sz="1200" b="1">
              <a:solidFill>
                <a:srgbClr val="00E676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343400" y="62179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70+ 渠道一套部署  |  大厂各自只深度集成自家IM  |  我们：飞书+钉钉+企微同时支持</a:t>
            </a:r>
            <a:endParaRPr sz="900" b="0">
              <a:solidFill>
                <a:srgbClr val="88A0B8"/>
              </a:solidFill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156448" y="5925312"/>
            <a:ext cx="3749039" cy="74980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56448" y="5925312"/>
            <a:ext cx="54864" cy="7498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93608" y="5952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数据不出境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293608" y="62179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0B8"/>
                </a:solidFill>
              </a:rPr>
              <a:t>完整私有部署  |  大厂私有方案仍有云端回调  |  我们：审计日志只存本地，零外传</a:t>
            </a:r>
            <a:endParaRPr sz="900" b="0">
              <a:solidFill>
                <a:srgbClr val="88A0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WPS 演示</Application>
  <PresentationFormat>On-screen Show (4:3)</PresentationFormat>
  <Paragraphs>162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super sun TM</cp:lastModifiedBy>
  <cp:revision>2</cp:revision>
  <dcterms:created xsi:type="dcterms:W3CDTF">2013-01-27T09:14:00Z</dcterms:created>
  <dcterms:modified xsi:type="dcterms:W3CDTF">2026-04-04T13:16:27Z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1575CFACA8A94F8C96106B3245DA9EAC_12</vt:lpwstr>
  </property>
  <property fmtid="{D5CDD505-2E9C-101B-9397-08002B2CF9AE}" pid="3" name="KSOProductBuildVer">
    <vt:lpwstr>2052-12.1.0.19302</vt:lpwstr>
  </property>
</Properties>
</file>